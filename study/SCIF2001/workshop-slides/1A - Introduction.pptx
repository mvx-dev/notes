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10_7FEB4B40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32"/>
  </p:notesMasterIdLst>
  <p:sldIdLst>
    <p:sldId id="284" r:id="rId5"/>
    <p:sldId id="256" r:id="rId6"/>
    <p:sldId id="257" r:id="rId7"/>
    <p:sldId id="259" r:id="rId8"/>
    <p:sldId id="258" r:id="rId9"/>
    <p:sldId id="285" r:id="rId10"/>
    <p:sldId id="287" r:id="rId11"/>
    <p:sldId id="289" r:id="rId12"/>
    <p:sldId id="288" r:id="rId13"/>
    <p:sldId id="294" r:id="rId14"/>
    <p:sldId id="292" r:id="rId15"/>
    <p:sldId id="290" r:id="rId16"/>
    <p:sldId id="291" r:id="rId17"/>
    <p:sldId id="293" r:id="rId18"/>
    <p:sldId id="295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81" r:id="rId31"/>
  </p:sldIdLst>
  <p:sldSz cx="12192000" cy="6858000"/>
  <p:notesSz cx="6858000" cy="9144000"/>
  <p:custDataLst>
    <p:tags r:id="rId3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2B0C05B-EAB0-F53F-A41C-BB1B8E12EC64}" name="Gee Chong Ling" initials="GL" userId="S::z3198249@ad.unsw.edu.au::83002862-dcb2-4faa-80d2-b39839e9fe55" providerId="AD"/>
  <p188:author id="{B37EC6C6-3E7B-4E1C-39ED-C90057350284}" name="Ben Montet" initials="" userId="S::z3529659@ad.unsw.edu.au::a888762f-31a9-4fa6-a372-d97a52f1ff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E82586-044E-7A2B-112D-B6B47061376D}" v="31" dt="2026-09-08T23:52:20.2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8/10/relationships/authors" Target="authors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gs" Target="tags/tag1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omments/modernComment_110_7FEB4B4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F49925F-8D5C-46AB-9C3D-DF574ED82433}" authorId="{F2B0C05B-EAB0-F53F-A41C-BB1B8E12EC64}" status="resolved" created="2025-09-11T05:20:37.255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146126656" sldId="272"/>
      <ac:picMk id="22" creationId="{281A5761-477C-5179-B4ED-DDB4A3A85E48}"/>
    </ac:deMkLst>
    <p188:txBody>
      <a:bodyPr/>
      <a:lstStyle/>
      <a:p>
        <a:r>
          <a:rPr lang="en-AU"/>
          <a:t>I would place you [@Thomas Dixon]  second (next to) Ben...lol to make sure that the ‘firing’ line is clear….=P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05A950-A25A-466E-8668-C171A7AAD950}" type="datetimeFigureOut">
              <a:rPr lang="en-AU" smtClean="0"/>
              <a:t>9/9/2026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C5922-4C3D-4736-AB12-5B45675C34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0861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Aboriginal and Torres Strait Islander people have made and are continuing to make extraordinary contributions to the scientific community and I think it likely that the future of sustainability and biodiversity here will depend on enabling and enacting Indigenous-driven solutions.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2440" y="2194560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" y="3915938"/>
            <a:ext cx="11506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527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129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488" y="2194560"/>
            <a:ext cx="11247120" cy="173736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472" y="3911827"/>
            <a:ext cx="11503152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220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374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183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475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51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107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769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901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05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6478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photos/a-notepad-with-a-pen-on-top-of-it-pcpsVsyFp_s?utm_content=creditCopyText&amp;utm_medium=referral&amp;utm_source=unsplash" TargetMode="External"/><Relationship Id="rId2" Type="http://schemas.openxmlformats.org/officeDocument/2006/relationships/hyperlink" Target="https://unsplash.com/@thomasbormans?utm_content=creditCopyText&amp;utm_medium=referral&amp;utm_source=unsplash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photos/eyeglasses-on-map-qoAIlAmLJBU?utm_content=creditCopyText&amp;utm_medium=referral&amp;utm_source=unsplash" TargetMode="External"/><Relationship Id="rId2" Type="http://schemas.openxmlformats.org/officeDocument/2006/relationships/hyperlink" Target="https://unsplash.com/@arttravelling?utm_content=creditCopyText&amp;utm_medium=referral&amp;utm_source=unsplash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microsoft.com/office/2018/10/relationships/comments" Target="../comments/modernComment_110_7FEB4B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bit.ly/3VPthQ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2AB2DC7-70F1-6DB8-B400-4A4889A9A17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Freeform 2"/>
          <p:cNvSpPr/>
          <p:nvPr/>
        </p:nvSpPr>
        <p:spPr>
          <a:xfrm>
            <a:off x="-676941" y="1438915"/>
            <a:ext cx="5140642" cy="5140642"/>
          </a:xfrm>
          <a:custGeom>
            <a:avLst/>
            <a:gdLst/>
            <a:ahLst/>
            <a:cxnLst/>
            <a:rect l="l" t="t" r="r" b="b"/>
            <a:pathLst>
              <a:path w="7710963" h="7710963">
                <a:moveTo>
                  <a:pt x="0" y="0"/>
                </a:moveTo>
                <a:lnTo>
                  <a:pt x="7710962" y="0"/>
                </a:lnTo>
                <a:lnTo>
                  <a:pt x="7710962" y="7710963"/>
                </a:lnTo>
                <a:lnTo>
                  <a:pt x="0" y="77109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3" name="TextBox 3"/>
          <p:cNvSpPr txBox="1"/>
          <p:nvPr/>
        </p:nvSpPr>
        <p:spPr>
          <a:xfrm>
            <a:off x="851992" y="471598"/>
            <a:ext cx="10488017" cy="951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3"/>
              </a:lnSpc>
            </a:pPr>
            <a:r>
              <a:rPr lang="en-US" sz="5666" b="1" dirty="0">
                <a:solidFill>
                  <a:srgbClr val="F4AC7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Acknowledgement of Country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20116" y="2793422"/>
            <a:ext cx="7986084" cy="2025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73"/>
              </a:lnSpc>
            </a:pPr>
            <a:r>
              <a:rPr lang="en-US" sz="2266" b="1">
                <a:solidFill>
                  <a:srgbClr val="C9C5C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 would like to acknowledge the Bedegal people as the Traditional Custodians of this land. I would also like to pay my respects to the Elders, past and present, and extend that respect to other Aboriginal and Torres Strait Islanders who are present here today.</a:t>
            </a:r>
          </a:p>
          <a:p>
            <a:pPr>
              <a:lnSpc>
                <a:spcPts val="3173"/>
              </a:lnSpc>
            </a:pPr>
            <a:endParaRPr lang="en-US" sz="2266" b="1">
              <a:solidFill>
                <a:srgbClr val="C9C5C2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SCIF2001 – Workshop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General Overview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1BECB-E20E-9AD1-EB1E-2A781F49F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Today's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6965E-5B6F-8B7D-BC9C-8A98A9E5A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800" dirty="0"/>
              <a:t>Course Introduction and Overview!</a:t>
            </a:r>
          </a:p>
          <a:p>
            <a:pPr marL="0" indent="0">
              <a:buNone/>
            </a:pPr>
            <a:r>
              <a:rPr lang="en-US" sz="2800" dirty="0"/>
              <a:t>	Q and A time + we’ll be taking live questions on SLIDO</a:t>
            </a:r>
          </a:p>
          <a:p>
            <a:pPr marL="0" indent="0">
              <a:buNone/>
            </a:pPr>
            <a:r>
              <a:rPr lang="en-US" sz="2800" dirty="0"/>
              <a:t>Continuing on from SCIF1000/SCIF1001</a:t>
            </a:r>
          </a:p>
          <a:p>
            <a:pPr marL="0" indent="0">
              <a:buNone/>
            </a:pPr>
            <a:r>
              <a:rPr lang="en-US" sz="2800" dirty="0"/>
              <a:t>Meet your Research Groupmates</a:t>
            </a:r>
          </a:p>
          <a:p>
            <a:pPr marL="0" indent="0">
              <a:buNone/>
            </a:pPr>
            <a:r>
              <a:rPr lang="en-US" sz="2800" dirty="0"/>
              <a:t>Science Societal Impact Challenges</a:t>
            </a:r>
          </a:p>
          <a:p>
            <a:pPr marL="0" indent="0">
              <a:buNone/>
            </a:pPr>
            <a:r>
              <a:rPr lang="en-US" sz="2800" dirty="0"/>
              <a:t>Getting ready for your first meeting (Week 2)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610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71590-EDDF-5229-A2AD-670A1A550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Course Introduction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5EDF0-F876-0205-BEAD-DBDE729A36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Why are you here, how do you pass?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8547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DE0C4-CB65-E643-B8C8-B08A510D4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Course Intention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F136E-DD3F-0C78-1021-FA0D809A6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89" y="2011680"/>
            <a:ext cx="3270227" cy="4206240"/>
          </a:xfrm>
        </p:spPr>
        <p:txBody>
          <a:bodyPr/>
          <a:lstStyle/>
          <a:p>
            <a:pPr marL="0" indent="0">
              <a:buNone/>
            </a:pPr>
            <a:r>
              <a:rPr lang="en-US" u="sng"/>
              <a:t>Take Your First Steps as a Researcher!</a:t>
            </a:r>
          </a:p>
          <a:p>
            <a:pPr marL="0" indent="0">
              <a:buNone/>
            </a:pPr>
            <a:r>
              <a:rPr lang="en-US"/>
              <a:t>This course will likely be your </a:t>
            </a:r>
            <a:r>
              <a:rPr lang="en-US" b="1"/>
              <a:t>first experience engaging in authentic research.</a:t>
            </a:r>
            <a:endParaRPr lang="en-AU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2CC62E5-2DE6-2656-1735-DFE51BEFF540}"/>
              </a:ext>
            </a:extLst>
          </p:cNvPr>
          <p:cNvSpPr txBox="1">
            <a:spLocks/>
          </p:cNvSpPr>
          <p:nvPr/>
        </p:nvSpPr>
        <p:spPr>
          <a:xfrm>
            <a:off x="3898558" y="2011680"/>
            <a:ext cx="3571102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u="sng"/>
              <a:t>Learn the </a:t>
            </a:r>
            <a:r>
              <a:rPr lang="en-US" b="1" u="sng"/>
              <a:t>tools of the trade.</a:t>
            </a:r>
          </a:p>
          <a:p>
            <a:pPr marL="0" indent="0">
              <a:buFont typeface="Wingdings" pitchFamily="2" charset="2"/>
              <a:buNone/>
            </a:pPr>
            <a:r>
              <a:rPr lang="en-US"/>
              <a:t>You’ll be developing key skills to become a researcher, at the small scale (</a:t>
            </a:r>
            <a:r>
              <a:rPr lang="en-US" u="sng"/>
              <a:t>data processing</a:t>
            </a:r>
            <a:r>
              <a:rPr lang="en-US"/>
              <a:t>, </a:t>
            </a:r>
            <a:r>
              <a:rPr lang="en-US" u="sng"/>
              <a:t>experimental technique</a:t>
            </a:r>
            <a:r>
              <a:rPr lang="en-US"/>
              <a:t>) and more meta-</a:t>
            </a:r>
            <a:r>
              <a:rPr lang="en-US" err="1"/>
              <a:t>cognitiviely</a:t>
            </a:r>
            <a:r>
              <a:rPr lang="en-US"/>
              <a:t> (</a:t>
            </a:r>
            <a:r>
              <a:rPr lang="en-US" u="sng"/>
              <a:t>research planning</a:t>
            </a:r>
            <a:r>
              <a:rPr lang="en-US"/>
              <a:t>, </a:t>
            </a:r>
            <a:r>
              <a:rPr lang="en-US" u="sng"/>
              <a:t>ethics</a:t>
            </a:r>
            <a:r>
              <a:rPr lang="en-US"/>
              <a:t>) </a:t>
            </a:r>
            <a:endParaRPr lang="en-AU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2CEBE6E-0D57-A0FB-A90D-A0AF4FA826C2}"/>
              </a:ext>
            </a:extLst>
          </p:cNvPr>
          <p:cNvSpPr txBox="1">
            <a:spLocks/>
          </p:cNvSpPr>
          <p:nvPr/>
        </p:nvSpPr>
        <p:spPr>
          <a:xfrm>
            <a:off x="7918815" y="2003030"/>
            <a:ext cx="3325833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u="sng" dirty="0"/>
              <a:t>Have Fun!</a:t>
            </a:r>
          </a:p>
          <a:p>
            <a:pPr marL="0" indent="0">
              <a:buNone/>
            </a:pPr>
            <a:r>
              <a:rPr lang="en-US" dirty="0"/>
              <a:t>This course is Competency-Based and does not affect your WAM, so you can focus on making the most of your experience. Crucially, you’ll learn that in research </a:t>
            </a:r>
            <a:r>
              <a:rPr lang="en-US" b="1" dirty="0"/>
              <a:t>nothing ever goes as planned. </a:t>
            </a:r>
            <a:endParaRPr lang="en-AU" dirty="0"/>
          </a:p>
          <a:p>
            <a:pPr marL="0" indent="0">
              <a:buFont typeface="Wingdings" pitchFamily="2" charset="2"/>
              <a:buNone/>
            </a:pPr>
            <a:endParaRPr lang="en-AU" u="sng" dirty="0"/>
          </a:p>
        </p:txBody>
      </p:sp>
    </p:spTree>
    <p:extLst>
      <p:ext uri="{BB962C8B-B14F-4D97-AF65-F5344CB8AC3E}">
        <p14:creationId xmlns:p14="http://schemas.microsoft.com/office/powerpoint/2010/main" val="665608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B603F-7668-4049-8EDE-C0B7BAA49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Projects at the Centre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960EE-433D-46DA-AF2A-726D6A3D43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8873" y="2131699"/>
            <a:ext cx="4400053" cy="11879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SCIF2001 is a </a:t>
            </a:r>
            <a:r>
              <a:rPr lang="en-US" sz="2800" u="sng" dirty="0"/>
              <a:t>project</a:t>
            </a:r>
            <a:r>
              <a:rPr lang="en-US" sz="2800" dirty="0"/>
              <a:t>-based course. </a:t>
            </a:r>
            <a:endParaRPr lang="en-AU" sz="2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CAF3FF6-DB63-4F0D-8193-F3D63FF1BECD}"/>
              </a:ext>
            </a:extLst>
          </p:cNvPr>
          <p:cNvSpPr txBox="1">
            <a:spLocks/>
          </p:cNvSpPr>
          <p:nvPr/>
        </p:nvSpPr>
        <p:spPr>
          <a:xfrm>
            <a:off x="1098873" y="3538373"/>
            <a:ext cx="3670126" cy="2915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800" dirty="0"/>
              <a:t>The weekly workshops </a:t>
            </a:r>
            <a:r>
              <a:rPr lang="en-US" sz="2800" u="sng" dirty="0"/>
              <a:t>supplement</a:t>
            </a:r>
            <a:r>
              <a:rPr lang="en-US" sz="2800" dirty="0"/>
              <a:t> the projects and provide important skills development.  </a:t>
            </a:r>
            <a:endParaRPr lang="en-AU" sz="2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79E7B40-71D8-4A06-B1F3-48E52A102621}"/>
              </a:ext>
            </a:extLst>
          </p:cNvPr>
          <p:cNvSpPr/>
          <p:nvPr/>
        </p:nvSpPr>
        <p:spPr>
          <a:xfrm>
            <a:off x="7316530" y="2336104"/>
            <a:ext cx="3670126" cy="3670126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Your Project</a:t>
            </a:r>
            <a:endParaRPr lang="en-AU" sz="36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C57A413-33D8-4197-8D1C-8AF790823855}"/>
              </a:ext>
            </a:extLst>
          </p:cNvPr>
          <p:cNvSpPr/>
          <p:nvPr/>
        </p:nvSpPr>
        <p:spPr>
          <a:xfrm>
            <a:off x="7089545" y="2398965"/>
            <a:ext cx="900544" cy="820455"/>
          </a:xfrm>
          <a:prstGeom prst="ellipse">
            <a:avLst/>
          </a:prstGeom>
          <a:solidFill>
            <a:srgbClr val="FFC000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W/S 2</a:t>
            </a:r>
            <a:endParaRPr lang="en-AU" sz="14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F6D2D54-7528-424C-B8EF-6E551DE13B77}"/>
              </a:ext>
            </a:extLst>
          </p:cNvPr>
          <p:cNvSpPr/>
          <p:nvPr/>
        </p:nvSpPr>
        <p:spPr>
          <a:xfrm>
            <a:off x="7990089" y="1925876"/>
            <a:ext cx="900544" cy="820455"/>
          </a:xfrm>
          <a:prstGeom prst="ellipse">
            <a:avLst/>
          </a:prstGeom>
          <a:solidFill>
            <a:srgbClr val="FFC000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W/S 1</a:t>
            </a:r>
            <a:endParaRPr lang="en-AU" sz="14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33B99D8-0B1B-4D15-9FFE-CEB85EEEAFF7}"/>
              </a:ext>
            </a:extLst>
          </p:cNvPr>
          <p:cNvSpPr/>
          <p:nvPr/>
        </p:nvSpPr>
        <p:spPr>
          <a:xfrm>
            <a:off x="6781900" y="3382142"/>
            <a:ext cx="900544" cy="820455"/>
          </a:xfrm>
          <a:prstGeom prst="ellipse">
            <a:avLst/>
          </a:prstGeom>
          <a:solidFill>
            <a:srgbClr val="FFC000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W/S 3</a:t>
            </a:r>
            <a:endParaRPr lang="en-AU" sz="14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6B7BBFB-0A62-4D39-8E5F-6BB09373C705}"/>
              </a:ext>
            </a:extLst>
          </p:cNvPr>
          <p:cNvSpPr/>
          <p:nvPr/>
        </p:nvSpPr>
        <p:spPr>
          <a:xfrm>
            <a:off x="6781900" y="4390371"/>
            <a:ext cx="900544" cy="820455"/>
          </a:xfrm>
          <a:prstGeom prst="ellipse">
            <a:avLst/>
          </a:prstGeom>
          <a:solidFill>
            <a:srgbClr val="FFC000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W/S 4</a:t>
            </a:r>
            <a:endParaRPr lang="en-AU" sz="14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550C256-1E0B-44B9-A44E-59D167966AD5}"/>
              </a:ext>
            </a:extLst>
          </p:cNvPr>
          <p:cNvSpPr/>
          <p:nvPr/>
        </p:nvSpPr>
        <p:spPr>
          <a:xfrm>
            <a:off x="7389413" y="5279662"/>
            <a:ext cx="900544" cy="820455"/>
          </a:xfrm>
          <a:prstGeom prst="ellipse">
            <a:avLst/>
          </a:prstGeom>
          <a:solidFill>
            <a:srgbClr val="FFC000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W/S 5</a:t>
            </a:r>
            <a:endParaRPr lang="en-AU" sz="14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FC3D62C-CEF7-406E-8453-058D5683E5AF}"/>
              </a:ext>
            </a:extLst>
          </p:cNvPr>
          <p:cNvSpPr/>
          <p:nvPr/>
        </p:nvSpPr>
        <p:spPr>
          <a:xfrm>
            <a:off x="10877911" y="2073056"/>
            <a:ext cx="900544" cy="820455"/>
          </a:xfrm>
          <a:prstGeom prst="ellipse">
            <a:avLst/>
          </a:prstGeom>
          <a:solidFill>
            <a:srgbClr val="FFC000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W/S 6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96605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B491C-8204-4616-926D-3F696BF14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Projects – an Overview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5364E-DFF0-4075-9001-8EB2AF134D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Based on your preferences, you’ve been sorted into a project group.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will be working in this project group for the term. 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F3D3F4-B8FF-4789-BC3D-D2D6512C33E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Each project group will have:</a:t>
            </a:r>
          </a:p>
          <a:p>
            <a:pPr>
              <a:buFontTx/>
              <a:buChar char="-"/>
            </a:pPr>
            <a:r>
              <a:rPr lang="en-US" dirty="0"/>
              <a:t>Dedicated classroom time in a relevant laboratory.</a:t>
            </a:r>
          </a:p>
          <a:p>
            <a:pPr>
              <a:buFontTx/>
              <a:buChar char="-"/>
            </a:pPr>
            <a:r>
              <a:rPr lang="en-US" dirty="0"/>
              <a:t>An academic in charge and a PhD student Project Leader / mentor.</a:t>
            </a:r>
          </a:p>
          <a:p>
            <a:pPr>
              <a:buFontTx/>
              <a:buChar char="-"/>
            </a:pPr>
            <a:r>
              <a:rPr lang="en-US" dirty="0"/>
              <a:t>A group of peers to work with!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56268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1FF93-8DBF-4B11-A17D-06CADB9F2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Projects are all different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BF8E2-819C-4173-A56A-9DB57B222A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projects are data-analysis heavy, some are very physical/practical.</a:t>
            </a:r>
          </a:p>
          <a:p>
            <a:endParaRPr lang="en-US" dirty="0"/>
          </a:p>
          <a:p>
            <a:r>
              <a:rPr lang="en-US" dirty="0"/>
              <a:t>Some have large scope for individual work, others need to be collaborative to function.</a:t>
            </a:r>
          </a:p>
          <a:p>
            <a:endParaRPr lang="en-US" dirty="0"/>
          </a:p>
          <a:p>
            <a:r>
              <a:rPr lang="en-US" dirty="0"/>
              <a:t>Check in with your project leader to see what your project will be like!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E6B44D7-8EDD-B149-E642-1333DA6FE6E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551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985CF-8AA4-43D2-9AD1-001341D77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Projects - Assessments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ECF43-F32E-4A10-827A-AB4CFD51A0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0084" y="2011680"/>
            <a:ext cx="3354130" cy="214696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Literature Review / Project Plan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You’ll </a:t>
            </a:r>
            <a:r>
              <a:rPr lang="en-US" u="sng" dirty="0"/>
              <a:t>write</a:t>
            </a:r>
            <a:r>
              <a:rPr lang="en-US" dirty="0"/>
              <a:t> a literature review and project plan.</a:t>
            </a:r>
          </a:p>
          <a:p>
            <a:pPr marL="0" indent="0">
              <a:buNone/>
            </a:pPr>
            <a:r>
              <a:rPr lang="en-US" dirty="0"/>
              <a:t>It’s due in Week 4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04743FD-8431-4E8A-A85E-8EE3E8665183}"/>
              </a:ext>
            </a:extLst>
          </p:cNvPr>
          <p:cNvSpPr txBox="1">
            <a:spLocks/>
          </p:cNvSpPr>
          <p:nvPr/>
        </p:nvSpPr>
        <p:spPr>
          <a:xfrm>
            <a:off x="8403656" y="2011680"/>
            <a:ext cx="3207971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U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0AAAB5D5-6F8F-4AFB-B8CD-45B46F8CAD31}"/>
              </a:ext>
            </a:extLst>
          </p:cNvPr>
          <p:cNvSpPr txBox="1">
            <a:spLocks/>
          </p:cNvSpPr>
          <p:nvPr/>
        </p:nvSpPr>
        <p:spPr>
          <a:xfrm>
            <a:off x="6319382" y="1318200"/>
            <a:ext cx="5597826" cy="474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We’ll see more about this later!</a:t>
            </a:r>
            <a:endParaRPr lang="en-AU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8D67EB1-10A0-4DD0-8869-96A3BC51AFC4}"/>
              </a:ext>
            </a:extLst>
          </p:cNvPr>
          <p:cNvSpPr txBox="1">
            <a:spLocks/>
          </p:cNvSpPr>
          <p:nvPr/>
        </p:nvSpPr>
        <p:spPr>
          <a:xfrm>
            <a:off x="4355640" y="2011680"/>
            <a:ext cx="3354130" cy="3330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b="1" dirty="0"/>
              <a:t>Science Skills</a:t>
            </a:r>
            <a:endParaRPr lang="en-US" dirty="0"/>
          </a:p>
          <a:p>
            <a:pPr marL="0" indent="0">
              <a:buFont typeface="Wingdings" pitchFamily="2" charset="2"/>
              <a:buNone/>
            </a:pPr>
            <a:r>
              <a:rPr lang="en-US" dirty="0"/>
              <a:t>You’ll </a:t>
            </a:r>
            <a:r>
              <a:rPr lang="en-US" u="sng" dirty="0"/>
              <a:t>demonstrate</a:t>
            </a:r>
            <a:r>
              <a:rPr lang="en-US" dirty="0"/>
              <a:t> scientific skills throughout the term. </a:t>
            </a:r>
          </a:p>
          <a:p>
            <a:pPr marL="0" indent="0">
              <a:buFont typeface="Wingdings" pitchFamily="2" charset="2"/>
              <a:buNone/>
            </a:pPr>
            <a:r>
              <a:rPr lang="en-US" dirty="0"/>
              <a:t>You’ll be assessed against a project / discipline specific rubric twice through the term. 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060D7D2-FFE9-44F4-8F0A-F6386A1D7059}"/>
              </a:ext>
            </a:extLst>
          </p:cNvPr>
          <p:cNvSpPr txBox="1">
            <a:spLocks/>
          </p:cNvSpPr>
          <p:nvPr/>
        </p:nvSpPr>
        <p:spPr>
          <a:xfrm>
            <a:off x="8207394" y="2011680"/>
            <a:ext cx="3354130" cy="333067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b="1" dirty="0"/>
              <a:t>Presentation</a:t>
            </a:r>
            <a:endParaRPr lang="en-US" dirty="0"/>
          </a:p>
          <a:p>
            <a:pPr marL="0" indent="0">
              <a:buFont typeface="Wingdings" pitchFamily="2" charset="2"/>
              <a:buNone/>
            </a:pPr>
            <a:r>
              <a:rPr lang="en-US" dirty="0"/>
              <a:t>You’ll </a:t>
            </a:r>
            <a:r>
              <a:rPr lang="en-US" u="sng" dirty="0"/>
              <a:t>record</a:t>
            </a:r>
            <a:r>
              <a:rPr lang="en-US" dirty="0"/>
              <a:t> a 6 minute academic video summarizing your work.. </a:t>
            </a:r>
          </a:p>
          <a:p>
            <a:pPr marL="0" indent="0">
              <a:buFont typeface="Wingdings" pitchFamily="2" charset="2"/>
              <a:buNone/>
            </a:pPr>
            <a:r>
              <a:rPr lang="en-US" dirty="0"/>
              <a:t>You’re expected to outline the impact of your project, your specific contributions, and explain any science. </a:t>
            </a:r>
          </a:p>
          <a:p>
            <a:pPr marL="0" indent="0">
              <a:buFont typeface="Wingdings" pitchFamily="2" charset="2"/>
              <a:buNone/>
            </a:pPr>
            <a:r>
              <a:rPr lang="en-US" dirty="0"/>
              <a:t>It’s due in Week 11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8C99117-D64E-496F-A22C-05A4B845F1F3}"/>
              </a:ext>
            </a:extLst>
          </p:cNvPr>
          <p:cNvSpPr txBox="1">
            <a:spLocks/>
          </p:cNvSpPr>
          <p:nvPr/>
        </p:nvSpPr>
        <p:spPr>
          <a:xfrm>
            <a:off x="2592601" y="5699342"/>
            <a:ext cx="7465799" cy="874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b="1" dirty="0"/>
              <a:t>ALL three of these are marked by your Project Leaders. </a:t>
            </a:r>
            <a:br>
              <a:rPr lang="en-US" b="1" dirty="0"/>
            </a:br>
            <a:r>
              <a:rPr lang="en-US" b="1" dirty="0"/>
              <a:t>Rubrics are available on Moodle!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110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1" grpId="0"/>
      <p:bldP spid="13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69F67-FF90-A495-5E0B-02E85D5B2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Laboratory Session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A8915-E8EA-8E17-9601-7DA3B2F1E8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Project Time!</a:t>
            </a:r>
          </a:p>
          <a:p>
            <a:r>
              <a:rPr lang="en-US"/>
              <a:t>You’re all scheduled to different times – be sure to check your timetable for where and when!</a:t>
            </a:r>
          </a:p>
          <a:p>
            <a:r>
              <a:rPr lang="en-US"/>
              <a:t>Four hours at a time – total 28 hours and you need to </a:t>
            </a:r>
            <a:r>
              <a:rPr lang="en-US" u="sng"/>
              <a:t>engage actively</a:t>
            </a:r>
            <a:r>
              <a:rPr lang="en-US"/>
              <a:t> in 20 hours to pass the course.</a:t>
            </a:r>
          </a:p>
          <a:p>
            <a:r>
              <a:rPr lang="en-US" u="sng"/>
              <a:t>Mentors</a:t>
            </a:r>
            <a:r>
              <a:rPr lang="en-US"/>
              <a:t> will be judging this.</a:t>
            </a:r>
            <a:endParaRPr lang="en-AU" u="sng"/>
          </a:p>
        </p:txBody>
      </p:sp>
      <p:pic>
        <p:nvPicPr>
          <p:cNvPr id="8" name="Content Placeholder 7" descr="A person in a lab coat and blue gloves&#10;&#10;AI-generated content may be incorrect.">
            <a:extLst>
              <a:ext uri="{FF2B5EF4-FFF2-40B4-BE49-F238E27FC236}">
                <a16:creationId xmlns:a16="http://schemas.microsoft.com/office/drawing/2014/main" id="{345AFFA3-713D-58E0-732C-AB506E69D54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8400" y="2137394"/>
            <a:ext cx="2950300" cy="1968623"/>
          </a:xfrm>
        </p:spPr>
      </p:pic>
      <p:pic>
        <p:nvPicPr>
          <p:cNvPr id="10" name="Picture 9" descr="A person and person in white coats in a room with plants&#10;&#10;AI-generated content may be incorrect.">
            <a:extLst>
              <a:ext uri="{FF2B5EF4-FFF2-40B4-BE49-F238E27FC236}">
                <a16:creationId xmlns:a16="http://schemas.microsoft.com/office/drawing/2014/main" id="{4C8450A7-FA60-2953-A2DC-DE6D0B55BE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179" y="2137394"/>
            <a:ext cx="1394954" cy="2091600"/>
          </a:xfrm>
          <a:prstGeom prst="rect">
            <a:avLst/>
          </a:prstGeom>
        </p:spPr>
      </p:pic>
      <p:pic>
        <p:nvPicPr>
          <p:cNvPr id="12" name="Picture 11" descr="A person working on a machine&#10;&#10;AI-generated content may be incorrect.">
            <a:extLst>
              <a:ext uri="{FF2B5EF4-FFF2-40B4-BE49-F238E27FC236}">
                <a16:creationId xmlns:a16="http://schemas.microsoft.com/office/drawing/2014/main" id="{A988E531-93A3-9869-EA6E-5878F45997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4029" y="4573452"/>
            <a:ext cx="2950300" cy="1966866"/>
          </a:xfrm>
          <a:prstGeom prst="rect">
            <a:avLst/>
          </a:prstGeom>
        </p:spPr>
      </p:pic>
      <p:pic>
        <p:nvPicPr>
          <p:cNvPr id="14" name="Picture 13" descr="An astronaut in a space suit&#10;&#10;AI-generated content may be incorrect.">
            <a:extLst>
              <a:ext uri="{FF2B5EF4-FFF2-40B4-BE49-F238E27FC236}">
                <a16:creationId xmlns:a16="http://schemas.microsoft.com/office/drawing/2014/main" id="{6B52342A-4CA3-B868-92C3-18860994C76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0400" y="4434318"/>
            <a:ext cx="1404000" cy="21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495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94484-FCC7-4BC7-B1DF-642D7B3A5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Activity! – Go Find your group</a:t>
            </a: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88E70A-938A-49BE-AC1F-855582CA764B}"/>
              </a:ext>
            </a:extLst>
          </p:cNvPr>
          <p:cNvSpPr/>
          <p:nvPr/>
        </p:nvSpPr>
        <p:spPr>
          <a:xfrm>
            <a:off x="43841" y="284176"/>
            <a:ext cx="12093880" cy="616672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DC4D91-6F68-4B4F-8F44-931E7BC00141}"/>
              </a:ext>
            </a:extLst>
          </p:cNvPr>
          <p:cNvSpPr txBox="1">
            <a:spLocks/>
          </p:cNvSpPr>
          <p:nvPr/>
        </p:nvSpPr>
        <p:spPr>
          <a:xfrm>
            <a:off x="920579" y="2011680"/>
            <a:ext cx="4814798" cy="1226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dirty="0"/>
              <a:t>Each table has a paper label with a group name and number – go find yours!</a:t>
            </a:r>
          </a:p>
        </p:txBody>
      </p:sp>
      <p:pic>
        <p:nvPicPr>
          <p:cNvPr id="7" name="Picture 6" descr="K-H6-G16 - Tyree Energy Technology G16 | Learning Environments - UNSW Sydney">
            <a:extLst>
              <a:ext uri="{FF2B5EF4-FFF2-40B4-BE49-F238E27FC236}">
                <a16:creationId xmlns:a16="http://schemas.microsoft.com/office/drawing/2014/main" id="{8F4BE0F7-ACAA-4BA6-B46F-CC5B229F5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0979" y="3090963"/>
            <a:ext cx="5864725" cy="228696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2D1F377-5F28-4E7B-BA62-2C93023912F4}"/>
              </a:ext>
            </a:extLst>
          </p:cNvPr>
          <p:cNvSpPr txBox="1">
            <a:spLocks/>
          </p:cNvSpPr>
          <p:nvPr/>
        </p:nvSpPr>
        <p:spPr>
          <a:xfrm>
            <a:off x="982925" y="3495701"/>
            <a:ext cx="4444096" cy="2697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dirty="0"/>
              <a:t>Each member of the group should</a:t>
            </a:r>
          </a:p>
          <a:p>
            <a:pPr>
              <a:buFontTx/>
              <a:buChar char="-"/>
            </a:pPr>
            <a:r>
              <a:rPr lang="en-US" dirty="0"/>
              <a:t>Introduce themselves and their degree</a:t>
            </a:r>
          </a:p>
          <a:p>
            <a:pPr>
              <a:buFontTx/>
              <a:buChar char="-"/>
            </a:pPr>
            <a:r>
              <a:rPr lang="en-US" dirty="0"/>
              <a:t>Why are you taking SCIF2001?</a:t>
            </a:r>
          </a:p>
          <a:p>
            <a:pPr>
              <a:buFontTx/>
              <a:buChar char="-"/>
            </a:pPr>
            <a:r>
              <a:rPr lang="en-US" dirty="0"/>
              <a:t>What do you hope to gain out of the course?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33942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5A120-DCCF-4DA1-ACEB-5D7E2886E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Workshops – an Overview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EE8CB-A367-4EBE-9D57-D9ACEE906E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20780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workshops</a:t>
            </a:r>
            <a:r>
              <a:rPr lang="en-US" dirty="0"/>
              <a:t> of this course are:</a:t>
            </a:r>
          </a:p>
          <a:p>
            <a:pPr>
              <a:buFontTx/>
              <a:buChar char="-"/>
            </a:pPr>
            <a:r>
              <a:rPr lang="en-US" dirty="0"/>
              <a:t>Cross-cohort</a:t>
            </a:r>
          </a:p>
          <a:p>
            <a:pPr>
              <a:buFontTx/>
              <a:buChar char="-"/>
            </a:pPr>
            <a:r>
              <a:rPr lang="en-US" dirty="0"/>
              <a:t>Project Agnostic</a:t>
            </a:r>
          </a:p>
          <a:p>
            <a:pPr>
              <a:buFontTx/>
              <a:buChar char="-"/>
            </a:pPr>
            <a:r>
              <a:rPr lang="en-US" dirty="0"/>
              <a:t>Focused on important skills  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57E0B9-F97B-40C3-8426-5CB40A2FA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67003"/>
            <a:ext cx="5876972" cy="3276988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DB55C84-059A-4A2B-A43B-7148D3BFDDAF}"/>
              </a:ext>
            </a:extLst>
          </p:cNvPr>
          <p:cNvSpPr txBox="1">
            <a:spLocks/>
          </p:cNvSpPr>
          <p:nvPr/>
        </p:nvSpPr>
        <p:spPr>
          <a:xfrm>
            <a:off x="1142713" y="5628110"/>
            <a:ext cx="10268498" cy="945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b="1" dirty="0"/>
              <a:t>I went through every project in 2025 and mapped the necessary skills – so they’re going to be relevant to you! 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658876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5A120-DCCF-4DA1-ACEB-5D7E2886E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Workshops – Your choices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EE8CB-A367-4EBE-9D57-D9ACEE906E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There are </a:t>
            </a:r>
            <a:r>
              <a:rPr lang="en-US" b="1" dirty="0"/>
              <a:t>seventeen workshops</a:t>
            </a:r>
            <a:r>
              <a:rPr lang="en-US" dirty="0"/>
              <a:t> for this course and </a:t>
            </a:r>
            <a:r>
              <a:rPr lang="en-US" b="1" dirty="0"/>
              <a:t>you need to attend AT LEAST 10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You can find the list on </a:t>
            </a:r>
            <a:r>
              <a:rPr lang="en-US" dirty="0" err="1"/>
              <a:t>moodle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9AA17E-6DEB-DE99-6F73-B2D25D8FC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676" y="3741814"/>
            <a:ext cx="9659640" cy="2732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111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94484-FCC7-4BC7-B1DF-642D7B3A5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Activity!</a:t>
            </a: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88E70A-938A-49BE-AC1F-855582CA764B}"/>
              </a:ext>
            </a:extLst>
          </p:cNvPr>
          <p:cNvSpPr/>
          <p:nvPr/>
        </p:nvSpPr>
        <p:spPr>
          <a:xfrm>
            <a:off x="43841" y="284176"/>
            <a:ext cx="12093880" cy="616672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99A9D1-0823-4829-BEE4-2CCEDAF8A81E}"/>
              </a:ext>
            </a:extLst>
          </p:cNvPr>
          <p:cNvSpPr txBox="1">
            <a:spLocks/>
          </p:cNvSpPr>
          <p:nvPr/>
        </p:nvSpPr>
        <p:spPr>
          <a:xfrm>
            <a:off x="560254" y="2043852"/>
            <a:ext cx="4754880" cy="2227523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dirty="0"/>
              <a:t>In your groups (or alone) decide what workshops you’re going to attend.</a:t>
            </a:r>
          </a:p>
          <a:p>
            <a:pPr marL="0" indent="0">
              <a:buFont typeface="Wingdings" pitchFamily="2" charset="2"/>
              <a:buNone/>
            </a:pPr>
            <a:endParaRPr lang="en-US" dirty="0"/>
          </a:p>
          <a:p>
            <a:pPr marL="0" indent="0">
              <a:buFont typeface="Wingdings" pitchFamily="2" charset="2"/>
              <a:buNone/>
            </a:pPr>
            <a:r>
              <a:rPr lang="en-US" dirty="0"/>
              <a:t>What seem to match the best with your project, or your areas of interest? </a:t>
            </a:r>
            <a:endParaRPr lang="en-AU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72B9F4E-A456-45C8-B136-B906FE567215}"/>
              </a:ext>
            </a:extLst>
          </p:cNvPr>
          <p:cNvSpPr txBox="1">
            <a:spLocks/>
          </p:cNvSpPr>
          <p:nvPr/>
        </p:nvSpPr>
        <p:spPr>
          <a:xfrm>
            <a:off x="6306855" y="2112745"/>
            <a:ext cx="5190160" cy="2227523"/>
          </a:xfrm>
          <a:prstGeom prst="rect">
            <a:avLst/>
          </a:prstGeom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dirty="0"/>
              <a:t>You can always attend more than ten :D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09130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7BBA1-1E30-821E-9BA4-889C0C0EDF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Questions?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9ED21-4F26-ED30-BD17-A06809F516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Ask here</a:t>
            </a:r>
          </a:p>
        </p:txBody>
      </p:sp>
    </p:spTree>
    <p:extLst>
      <p:ext uri="{BB962C8B-B14F-4D97-AF65-F5344CB8AC3E}">
        <p14:creationId xmlns:p14="http://schemas.microsoft.com/office/powerpoint/2010/main" val="3111476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1CC3C-D207-67F7-ED04-56CEAE5D5D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Course ASSESSMENT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9BF182-74FC-629D-7182-A0D1C72FC3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All info available in the course outline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5896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37517-6D5A-BFC7-859A-0B16D279C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Competency-based!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89871-ECD8-C565-1474-F821E4B908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3085856" cy="42062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You will get either a “Competent with Merit”</a:t>
            </a:r>
            <a:r>
              <a:rPr lang="en-AU" dirty="0"/>
              <a:t>, “Competent”, or “Not Yet Competent” based on:</a:t>
            </a:r>
          </a:p>
          <a:p>
            <a:pPr marL="457200" indent="-457200">
              <a:buAutoNum type="arabicParenR"/>
            </a:pPr>
            <a:r>
              <a:rPr lang="en-AU" dirty="0"/>
              <a:t>Meeting the attendance requirements (Labs and Workshops)</a:t>
            </a:r>
          </a:p>
          <a:p>
            <a:pPr marL="457200" indent="-457200">
              <a:buAutoNum type="arabicParenR"/>
            </a:pPr>
            <a:r>
              <a:rPr lang="en-AU" dirty="0"/>
              <a:t>Your score of CM/CP/NC for all the assessment items.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E66D6-6552-09EA-DC6D-E9AE11D90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6800" y="2011680"/>
            <a:ext cx="6348471" cy="42062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There are </a:t>
            </a:r>
            <a:r>
              <a:rPr lang="en-US" b="1" dirty="0"/>
              <a:t>four</a:t>
            </a:r>
            <a:r>
              <a:rPr lang="en-US" dirty="0"/>
              <a:t> assessment items for this course:</a:t>
            </a:r>
          </a:p>
          <a:p>
            <a:pPr marL="457200" indent="-457200">
              <a:buAutoNum type="arabicParenR"/>
            </a:pPr>
            <a:r>
              <a:rPr lang="en-US" dirty="0"/>
              <a:t>Lab Work / Project Learning Outcomes </a:t>
            </a:r>
          </a:p>
          <a:p>
            <a:pPr marL="457200" indent="-457200">
              <a:buAutoNum type="arabicParenR"/>
            </a:pPr>
            <a:r>
              <a:rPr lang="en-US" dirty="0"/>
              <a:t>Lit Review / Proposal </a:t>
            </a:r>
          </a:p>
          <a:p>
            <a:pPr marL="457200" indent="-457200">
              <a:buAutoNum type="arabicParenR"/>
            </a:pPr>
            <a:r>
              <a:rPr lang="en-AU" dirty="0"/>
              <a:t>Individual Video Presentation </a:t>
            </a:r>
          </a:p>
          <a:p>
            <a:pPr marL="457200" indent="-457200">
              <a:buAutoNum type="arabicParenR"/>
            </a:pPr>
            <a:r>
              <a:rPr lang="en-AU" dirty="0"/>
              <a:t>Weekly Quizzes</a:t>
            </a:r>
          </a:p>
          <a:p>
            <a:pPr marL="457200" indent="-457200">
              <a:buAutoNum type="arabicParenR"/>
            </a:pPr>
            <a:endParaRPr lang="en-AU" dirty="0"/>
          </a:p>
          <a:p>
            <a:pPr marL="0" indent="0">
              <a:buNone/>
            </a:pPr>
            <a:r>
              <a:rPr lang="en-AU" dirty="0"/>
              <a:t>Get a CP in all four, you’ve passed the course!</a:t>
            </a:r>
          </a:p>
          <a:p>
            <a:pPr marL="0" indent="0">
              <a:buNone/>
            </a:pPr>
            <a:r>
              <a:rPr lang="en-AU" dirty="0"/>
              <a:t>Get a CM in any two of 1/2/3, you’ve scored a CM!</a:t>
            </a:r>
          </a:p>
          <a:p>
            <a:pPr marL="457200" indent="-457200">
              <a:buAutoNum type="arabicParenR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75128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0C913-57CB-328F-5202-41AA46DC6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Learning Outcomes / RESEARCH Techniques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36812-EBC6-486E-C93C-82C791CC788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Each lab group will have five Project Specific Learning Outcomes (PSLOs).</a:t>
            </a:r>
          </a:p>
          <a:p>
            <a:pPr marL="0" indent="0">
              <a:buNone/>
            </a:pPr>
            <a:r>
              <a:rPr lang="en-US" dirty="0"/>
              <a:t>You’ll need to get a competent score in each of them – and they’re unique to each project. To get a CM, get a score of CM in at least 3/5 (and CP in the other two)</a:t>
            </a:r>
          </a:p>
          <a:p>
            <a:pPr marL="0" indent="0">
              <a:buNone/>
            </a:pPr>
            <a:r>
              <a:rPr lang="en-US" dirty="0"/>
              <a:t>They are judged by your project mentor at the end of term, with feedback at two points in the term to let you know how you’re going. </a:t>
            </a:r>
            <a:r>
              <a:rPr lang="en-US" dirty="0">
                <a:solidFill>
                  <a:schemeClr val="accent1"/>
                </a:solidFill>
              </a:rPr>
              <a:t> </a:t>
            </a:r>
            <a:r>
              <a:rPr lang="en-US" u="sng" dirty="0"/>
              <a:t>For most projects this will be in Week 5 and week 8</a:t>
            </a:r>
          </a:p>
          <a:p>
            <a:pPr marL="0" indent="0">
              <a:buNone/>
            </a:pPr>
            <a:r>
              <a:rPr lang="en-US" dirty="0"/>
              <a:t>Further details are in the Course Outline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83D2411-2268-0CE8-0CBE-35349BDF9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128" y="63938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Photo by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Thomas Bormans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Unsplash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9" name="Picture 8" descr="A to do list on a notebook&#10;&#10;AI-generated content may be incorrect.">
            <a:extLst>
              <a:ext uri="{FF2B5EF4-FFF2-40B4-BE49-F238E27FC236}">
                <a16:creationId xmlns:a16="http://schemas.microsoft.com/office/drawing/2014/main" id="{90B8AD15-BA89-C315-0302-48A1B6C0FB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654" y="2319556"/>
            <a:ext cx="4584010" cy="3056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551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D6B11-14AA-D044-58B7-F2F32852E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Lit Review / Proposal / </a:t>
            </a:r>
            <a:r>
              <a:rPr lang="en-US" err="1"/>
              <a:t>ResearCh</a:t>
            </a:r>
            <a:r>
              <a:rPr lang="en-US"/>
              <a:t> Roadmap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892106-356D-44F3-29EA-6B5A2775958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Due in Week 4, a research proposal for your project. </a:t>
            </a:r>
          </a:p>
          <a:p>
            <a:r>
              <a:rPr lang="en-US"/>
              <a:t>Includes:</a:t>
            </a:r>
          </a:p>
          <a:p>
            <a:pPr lvl="1"/>
            <a:r>
              <a:rPr lang="en-US"/>
              <a:t>a research question</a:t>
            </a:r>
          </a:p>
          <a:p>
            <a:pPr lvl="1"/>
            <a:r>
              <a:rPr lang="en-US"/>
              <a:t>lit review</a:t>
            </a:r>
          </a:p>
          <a:p>
            <a:pPr lvl="1"/>
            <a:r>
              <a:rPr lang="en-US"/>
              <a:t>methodology</a:t>
            </a:r>
          </a:p>
          <a:p>
            <a:pPr lvl="1"/>
            <a:r>
              <a:rPr lang="en-US"/>
              <a:t>project plan</a:t>
            </a:r>
          </a:p>
          <a:p>
            <a:r>
              <a:rPr lang="en-US"/>
              <a:t>Marked by your project mentors. 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FCDA1F7-E915-F0C5-D3B8-07EEE18A6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618" y="598516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Photo by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oxana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 v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Unsplash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7" name="Picture 6" descr="A hand holding a pen over a map&#10;&#10;AI-generated content may be incorrect.">
            <a:extLst>
              <a:ext uri="{FF2B5EF4-FFF2-40B4-BE49-F238E27FC236}">
                <a16:creationId xmlns:a16="http://schemas.microsoft.com/office/drawing/2014/main" id="{EBE91E83-5668-3CF4-BCEC-FE2C549EFB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074" y="1905001"/>
            <a:ext cx="2977315" cy="3726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7745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0E963-E64E-BFE6-8706-781AA68DF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Individual Video / Research Spotlight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B78F6-8231-DCF5-12D6-28D90E20FCD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 Exam Week (first day of), submit a 6 minute video on your research approach, results, and implications.</a:t>
            </a:r>
          </a:p>
          <a:p>
            <a:r>
              <a:rPr lang="en-US" dirty="0"/>
              <a:t>You need to include graphical depiction of your research approach and results.</a:t>
            </a:r>
          </a:p>
          <a:p>
            <a:r>
              <a:rPr lang="en-US" dirty="0"/>
              <a:t>There will be the chance to review, practice with your mentors and peers.</a:t>
            </a:r>
          </a:p>
          <a:p>
            <a:r>
              <a:rPr lang="en-US" dirty="0"/>
              <a:t>Marking rubric on Moodle– marked by your mentors. 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6" name="Picture 5" descr="A person standing next to a person standing next to a person standing next to a person standing next to a person standing next to a person standing next to a person standing next to a person standing next&#10;&#10;AI-generated content may be incorrect.">
            <a:extLst>
              <a:ext uri="{FF2B5EF4-FFF2-40B4-BE49-F238E27FC236}">
                <a16:creationId xmlns:a16="http://schemas.microsoft.com/office/drawing/2014/main" id="{4135E9E5-7C51-4EFC-A27F-5D28B1ABE2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8279" y="1857104"/>
            <a:ext cx="3361700" cy="1894663"/>
          </a:xfrm>
          <a:prstGeom prst="rect">
            <a:avLst/>
          </a:prstGeom>
        </p:spPr>
      </p:pic>
      <p:pic>
        <p:nvPicPr>
          <p:cNvPr id="8" name="Picture 7" descr="A group of people with different colors&#10;&#10;AI-generated content may be incorrect.">
            <a:extLst>
              <a:ext uri="{FF2B5EF4-FFF2-40B4-BE49-F238E27FC236}">
                <a16:creationId xmlns:a16="http://schemas.microsoft.com/office/drawing/2014/main" id="{6A2D3FE4-2797-A57F-1F72-59CB301D6F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0368" y="4314699"/>
            <a:ext cx="2961632" cy="1818113"/>
          </a:xfrm>
          <a:prstGeom prst="rect">
            <a:avLst/>
          </a:prstGeom>
        </p:spPr>
      </p:pic>
      <p:pic>
        <p:nvPicPr>
          <p:cNvPr id="10" name="Picture 9" descr="A person standing in front of a white board&#10;&#10;AI-generated content may be incorrect.">
            <a:extLst>
              <a:ext uri="{FF2B5EF4-FFF2-40B4-BE49-F238E27FC236}">
                <a16:creationId xmlns:a16="http://schemas.microsoft.com/office/drawing/2014/main" id="{A90E21E7-76A4-AC75-AE28-ECFD5D0E33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2416" y="3881925"/>
            <a:ext cx="3248158" cy="181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7504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CC433-E1DB-672C-D03C-2DE93B108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Weekly Quizzes / Research Toolkit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D71A1-63D4-14FB-282F-71937EBF1C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Reflections tied to each workshop, each graded on Moodle.</a:t>
            </a:r>
          </a:p>
          <a:p>
            <a:r>
              <a:rPr lang="en-US" dirty="0"/>
              <a:t>You need a cumulative total of 50% or more to pass.</a:t>
            </a:r>
          </a:p>
          <a:p>
            <a:r>
              <a:rPr lang="en-US" dirty="0"/>
              <a:t>Short, reflective, graded automatically or by Tom</a:t>
            </a:r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62CE83F4-068B-7AEE-30FD-3D85622C17E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456064" y="2011045"/>
            <a:ext cx="3082785" cy="4206875"/>
          </a:xfrm>
          <a:prstGeom prst="rect">
            <a:avLst/>
          </a:prstGeom>
        </p:spPr>
      </p:pic>
      <p:pic>
        <p:nvPicPr>
          <p:cNvPr id="6" name="Picture 5" descr="Me dabbing in PhD grad gear">
            <a:extLst>
              <a:ext uri="{FF2B5EF4-FFF2-40B4-BE49-F238E27FC236}">
                <a16:creationId xmlns:a16="http://schemas.microsoft.com/office/drawing/2014/main" id="{0F16AF8E-16AC-229C-437B-D1966B6874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94" b="7501"/>
          <a:stretch/>
        </p:blipFill>
        <p:spPr bwMode="auto">
          <a:xfrm>
            <a:off x="5666400" y="4262900"/>
            <a:ext cx="1598277" cy="1955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79804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BDEF3-F807-6A3A-F64A-A8DC255D9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ED46C-C70C-3807-D405-E316477533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Your Project Teams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A162D1-7020-4D41-5C9B-111EA2865F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Who are you working with, and how do you contact them?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86092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44882-7339-EC37-39FD-7C5B4818E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Course Contacts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D43C0-5DB1-234E-80FA-4359700DC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62" y="1938561"/>
            <a:ext cx="3193560" cy="4206240"/>
          </a:xfrm>
        </p:spPr>
        <p:txBody>
          <a:bodyPr/>
          <a:lstStyle/>
          <a:p>
            <a:pPr marL="0" indent="0" algn="ctr">
              <a:buNone/>
            </a:pPr>
            <a:r>
              <a:rPr lang="en-US"/>
              <a:t>Dr Ben Montet</a:t>
            </a:r>
          </a:p>
          <a:p>
            <a:pPr marL="0" indent="0" algn="ctr">
              <a:buNone/>
            </a:pPr>
            <a:r>
              <a:rPr lang="en-AU"/>
              <a:t>b.montet@unsw.edu.au</a:t>
            </a:r>
          </a:p>
        </p:txBody>
      </p:sp>
      <p:pic>
        <p:nvPicPr>
          <p:cNvPr id="5" name="Picture 4" descr="A person wearing glasses smiling&#10;&#10;AI-generated content may be incorrect.">
            <a:extLst>
              <a:ext uri="{FF2B5EF4-FFF2-40B4-BE49-F238E27FC236}">
                <a16:creationId xmlns:a16="http://schemas.microsoft.com/office/drawing/2014/main" id="{3C67F5E7-BCB0-EF3F-2DB1-FD208568A8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715" y="2922373"/>
            <a:ext cx="2526653" cy="2557672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BC90440-2604-B710-1A2F-D64735D53479}"/>
              </a:ext>
            </a:extLst>
          </p:cNvPr>
          <p:cNvSpPr txBox="1">
            <a:spLocks/>
          </p:cNvSpPr>
          <p:nvPr/>
        </p:nvSpPr>
        <p:spPr>
          <a:xfrm>
            <a:off x="223261" y="5619854"/>
            <a:ext cx="3193560" cy="1077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n-US" dirty="0"/>
              <a:t>Course Convenor</a:t>
            </a:r>
            <a:br>
              <a:rPr lang="en-US" dirty="0"/>
            </a:br>
            <a:endParaRPr lang="en-AU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063C613-0D9E-07F8-759C-5B19B659660D}"/>
              </a:ext>
            </a:extLst>
          </p:cNvPr>
          <p:cNvSpPr txBox="1">
            <a:spLocks/>
          </p:cNvSpPr>
          <p:nvPr/>
        </p:nvSpPr>
        <p:spPr>
          <a:xfrm>
            <a:off x="3483764" y="1890709"/>
            <a:ext cx="319356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n-US"/>
              <a:t>Dr Thomas Dixon</a:t>
            </a:r>
            <a:br>
              <a:rPr lang="en-US"/>
            </a:br>
            <a:r>
              <a:rPr lang="en-AU" err="1"/>
              <a:t>Thomas.Dixon</a:t>
            </a:r>
            <a:br>
              <a:rPr lang="en-AU"/>
            </a:br>
            <a:r>
              <a:rPr lang="en-AU"/>
              <a:t>@unsw.edu.au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3994AFC5-FD2E-E094-15B3-9039C453C11A}"/>
              </a:ext>
            </a:extLst>
          </p:cNvPr>
          <p:cNvSpPr txBox="1">
            <a:spLocks/>
          </p:cNvSpPr>
          <p:nvPr/>
        </p:nvSpPr>
        <p:spPr>
          <a:xfrm>
            <a:off x="3538004" y="5271810"/>
            <a:ext cx="3193560" cy="16518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n-US"/>
              <a:t>Workshop + </a:t>
            </a:r>
            <a:br>
              <a:rPr lang="en-US"/>
            </a:br>
            <a:r>
              <a:rPr lang="en-US"/>
              <a:t>Content Developer</a:t>
            </a:r>
          </a:p>
          <a:p>
            <a:pPr marL="0" indent="0" algn="ctr">
              <a:buFont typeface="Wingdings" pitchFamily="2" charset="2"/>
              <a:buNone/>
            </a:pPr>
            <a:r>
              <a:rPr lang="en-US"/>
              <a:t>Marking Quizzes</a:t>
            </a:r>
          </a:p>
          <a:p>
            <a:pPr marL="0" indent="0" algn="ctr">
              <a:buFont typeface="Wingdings" pitchFamily="2" charset="2"/>
              <a:buNone/>
            </a:pPr>
            <a:r>
              <a:rPr lang="en-US"/>
              <a:t>Handling ELPs</a:t>
            </a:r>
            <a:br>
              <a:rPr lang="en-US"/>
            </a:br>
            <a:endParaRPr lang="en-AU"/>
          </a:p>
        </p:txBody>
      </p:sp>
      <p:pic>
        <p:nvPicPr>
          <p:cNvPr id="22" name="Picture 21" descr="A person in a suit&#10;&#10;AI-generated content may be incorrect.">
            <a:extLst>
              <a:ext uri="{FF2B5EF4-FFF2-40B4-BE49-F238E27FC236}">
                <a16:creationId xmlns:a16="http://schemas.microsoft.com/office/drawing/2014/main" id="{281A5761-477C-5179-B4ED-DDB4A3A85E4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25" r="29679" b="27911"/>
          <a:stretch>
            <a:fillRect/>
          </a:stretch>
        </p:blipFill>
        <p:spPr>
          <a:xfrm>
            <a:off x="4059250" y="3014824"/>
            <a:ext cx="2037382" cy="18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12665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F15E3-B685-419A-EBAF-8DE6732EE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Microsoft Teams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ECC3C-E879-990E-60FB-4E5637177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4178" y="2011680"/>
            <a:ext cx="4122820" cy="42062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You are in a Microsoft Teams Channel for your research project. </a:t>
            </a:r>
          </a:p>
          <a:p>
            <a:pPr marL="0" indent="0">
              <a:buNone/>
            </a:pPr>
            <a:r>
              <a:rPr lang="en-US"/>
              <a:t>This will be how you can communicate with your team – but you can also use email if you like!</a:t>
            </a:r>
          </a:p>
          <a:p>
            <a:pPr marL="0" indent="0">
              <a:buNone/>
            </a:pPr>
            <a:r>
              <a:rPr lang="en-US"/>
              <a:t>Teams also has file storage – your mentors might have some reading material for you there (and you can use it to cloud store notes!)</a:t>
            </a:r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7F8577-AFD8-51A8-6DC4-8F570CF64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32" y="2112001"/>
            <a:ext cx="6248090" cy="38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7251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169FA-0217-54C4-0CBE-A712D127F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Moodle Forums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26661-1478-4018-8336-55B19F51C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2011680"/>
            <a:ext cx="3566789" cy="42062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We’ve got a couple of Moodle forums you can ask whole cohort questions in.</a:t>
            </a:r>
            <a:endParaRPr lang="en-AU"/>
          </a:p>
          <a:p>
            <a:pPr marL="0" indent="0">
              <a:buNone/>
            </a:pPr>
            <a:r>
              <a:rPr lang="en-US"/>
              <a:t>Announcements and information about workshops and modules will be provided on Moodle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9FD8EE-974D-DD17-0947-29FB3F387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919" y="4467650"/>
            <a:ext cx="3267531" cy="19814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0199FD-722C-DE31-03F0-4717BCB6D6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077" y="3429000"/>
            <a:ext cx="6293982" cy="24695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AA6127-3800-6B85-DD91-BE0882CFBAB4}"/>
              </a:ext>
            </a:extLst>
          </p:cNvPr>
          <p:cNvSpPr txBox="1">
            <a:spLocks/>
          </p:cNvSpPr>
          <p:nvPr/>
        </p:nvSpPr>
        <p:spPr>
          <a:xfrm>
            <a:off x="6094959" y="2368285"/>
            <a:ext cx="5392834" cy="23220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AU"/>
              <a:t>Most of the </a:t>
            </a:r>
            <a:r>
              <a:rPr lang="en-AU" b="1"/>
              <a:t>whole cohort </a:t>
            </a:r>
            <a:r>
              <a:rPr lang="en-AU"/>
              <a:t>material are accessed via Moodle.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8915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7BBA1-1E30-821E-9BA4-889C0C0EDF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Questions?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9ED21-4F26-ED30-BD17-A06809F516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Ask here</a:t>
            </a:r>
          </a:p>
        </p:txBody>
      </p:sp>
    </p:spTree>
    <p:extLst>
      <p:ext uri="{BB962C8B-B14F-4D97-AF65-F5344CB8AC3E}">
        <p14:creationId xmlns:p14="http://schemas.microsoft.com/office/powerpoint/2010/main" val="13379071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64C9A-C043-EEFA-DD73-DFAAD048F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Activity Two: Plan Ahead!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F155C-B349-A4FE-96A6-1926C1401D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02919" y="2202988"/>
            <a:ext cx="4318010" cy="42062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/>
              <a:t>Your first meeting with your research mentor is (probably) next week. </a:t>
            </a:r>
          </a:p>
          <a:p>
            <a:pPr marL="0" indent="0">
              <a:buNone/>
            </a:pPr>
            <a:r>
              <a:rPr lang="en-AU"/>
              <a:t>Now is a good time to think about – what resources, pre-reading etc.</a:t>
            </a:r>
          </a:p>
          <a:p>
            <a:pPr marL="0" indent="0">
              <a:buNone/>
            </a:pPr>
            <a:br>
              <a:rPr lang="en-AU"/>
            </a:br>
            <a:r>
              <a:rPr lang="en-AU"/>
              <a:t>Discuss in your groups; what do you think you should be doing to prepare for next week?</a:t>
            </a:r>
          </a:p>
          <a:p>
            <a:pPr marL="0" indent="0">
              <a:buNone/>
            </a:pPr>
            <a:endParaRPr lang="en-AU"/>
          </a:p>
        </p:txBody>
      </p:sp>
      <p:pic>
        <p:nvPicPr>
          <p:cNvPr id="6" name="Content Placeholder 5" descr="A group of people standing in front of a whiteboard&#10;&#10;AI-generated content may be incorrect.">
            <a:extLst>
              <a:ext uri="{FF2B5EF4-FFF2-40B4-BE49-F238E27FC236}">
                <a16:creationId xmlns:a16="http://schemas.microsoft.com/office/drawing/2014/main" id="{2407B028-4EA1-ECE0-5DCC-25424507F39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5306" y="284175"/>
            <a:ext cx="3987153" cy="22589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789B5F37-7A8D-A0F4-EF97-9BE627D20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5324" y="2534421"/>
            <a:ext cx="4890999" cy="383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Photo by Knut on Adobe Stock</a:t>
            </a:r>
          </a:p>
        </p:txBody>
      </p:sp>
      <p:pic>
        <p:nvPicPr>
          <p:cNvPr id="1026" name="Picture 2" descr="SMART Goals Worksheet Template">
            <a:extLst>
              <a:ext uri="{FF2B5EF4-FFF2-40B4-BE49-F238E27FC236}">
                <a16:creationId xmlns:a16="http://schemas.microsoft.com/office/drawing/2014/main" id="{B545A90F-A638-436F-4223-FB3C2902E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7662" y="3936776"/>
            <a:ext cx="2103223" cy="27219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124912-0330-E207-3930-9203FDAB050B}"/>
              </a:ext>
            </a:extLst>
          </p:cNvPr>
          <p:cNvSpPr txBox="1"/>
          <p:nvPr/>
        </p:nvSpPr>
        <p:spPr>
          <a:xfrm>
            <a:off x="6363846" y="5735413"/>
            <a:ext cx="46029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AU" b="1">
                <a:solidFill>
                  <a:schemeClr val="accent1">
                    <a:lumMod val="60000"/>
                    <a:lumOff val="40000"/>
                  </a:schemeClr>
                </a:solidFill>
              </a:rPr>
              <a:t>Not sure how to start this? </a:t>
            </a:r>
          </a:p>
          <a:p>
            <a:pPr marL="0" indent="0">
              <a:buNone/>
            </a:pPr>
            <a:r>
              <a:rPr lang="en-AU"/>
              <a:t>Consider a readymade template: </a:t>
            </a:r>
          </a:p>
          <a:p>
            <a:r>
              <a:rPr lang="en-AU">
                <a:hlinkClick r:id="rId4"/>
              </a:rPr>
              <a:t>http://bit.ly/3VPthQ9</a:t>
            </a:r>
            <a:r>
              <a:rPr lang="en-AU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853016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VERSION" val="8"/>
  <p:tag name="TPOS" val="2"/>
  <p:tag name="TPLASTSAVEVERSION" val="6.2 PC"/>
  <p:tag name="TPLASTSAVEPRODUCT" val="EchoPoll for PowerPoint"/>
  <p:tag name="TPFULLVERSION" val="1.3.3.5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606060"/>
      </a:dk2>
      <a:lt2>
        <a:srgbClr val="EDEDED"/>
      </a:lt2>
      <a:accent1>
        <a:srgbClr val="FFC000"/>
      </a:accent1>
      <a:accent2>
        <a:srgbClr val="A5D028"/>
      </a:accent2>
      <a:accent3>
        <a:srgbClr val="0CC978"/>
      </a:accent3>
      <a:accent4>
        <a:srgbClr val="099BDD"/>
      </a:accent4>
      <a:accent5>
        <a:srgbClr val="47BFCD"/>
      </a:accent5>
      <a:accent6>
        <a:srgbClr val="DD7C15"/>
      </a:accent6>
      <a:hlink>
        <a:srgbClr val="FF9933"/>
      </a:hlink>
      <a:folHlink>
        <a:srgbClr val="B2B2B2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B1D2DA32-AC8B-4194-BF85-FF4A5B40EB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6DA40B4B132B458830ECC69B134F0C" ma:contentTypeVersion="21" ma:contentTypeDescription="Create a new document." ma:contentTypeScope="" ma:versionID="fb19263bfefaa430189e373ed49919c2">
  <xsd:schema xmlns:xsd="http://www.w3.org/2001/XMLSchema" xmlns:xs="http://www.w3.org/2001/XMLSchema" xmlns:p="http://schemas.microsoft.com/office/2006/metadata/properties" xmlns:ns2="48075332-7121-4586-9b37-001832929c65" xmlns:ns3="7f4c7624-56f4-4a21-b954-4b513324e890" targetNamespace="http://schemas.microsoft.com/office/2006/metadata/properties" ma:root="true" ma:fieldsID="792fb3534e68e12bb9eea1a5b88660a7" ns2:_="" ns3:_="">
    <xsd:import namespace="48075332-7121-4586-9b37-001832929c65"/>
    <xsd:import namespace="7f4c7624-56f4-4a21-b954-4b513324e89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DateandTime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075332-7121-4586-9b37-001832929c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b026aac-6b52-4d7e-a64d-f3ee90946f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DateandTime" ma:index="24" nillable="true" ma:displayName="Date and Time" ma:format="DateTime" ma:internalName="DateandTime">
      <xsd:simpleType>
        <xsd:restriction base="dms:DateTim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4c7624-56f4-4a21-b954-4b513324e89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e1a186b-acfc-41a4-bd9d-4c4cd7a3e549}" ma:internalName="TaxCatchAll" ma:showField="CatchAllData" ma:web="7f4c7624-56f4-4a21-b954-4b513324e8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eandTime xmlns="48075332-7121-4586-9b37-001832929c65" xsi:nil="true"/>
    <lcf76f155ced4ddcb4097134ff3c332f xmlns="48075332-7121-4586-9b37-001832929c65">
      <Terms xmlns="http://schemas.microsoft.com/office/infopath/2007/PartnerControls"/>
    </lcf76f155ced4ddcb4097134ff3c332f>
    <TaxCatchAll xmlns="7f4c7624-56f4-4a21-b954-4b513324e890" xsi:nil="true"/>
  </documentManagement>
</p:properties>
</file>

<file path=customXml/itemProps1.xml><?xml version="1.0" encoding="utf-8"?>
<ds:datastoreItem xmlns:ds="http://schemas.openxmlformats.org/officeDocument/2006/customXml" ds:itemID="{96CE05B9-F4D6-467A-814E-0177B379DC14}">
  <ds:schemaRefs>
    <ds:schemaRef ds:uri="48075332-7121-4586-9b37-001832929c65"/>
    <ds:schemaRef ds:uri="7f4c7624-56f4-4a21-b954-4b513324e8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2BA6CAB-DA85-4E31-8B8F-1066461AA2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F7B913-9F69-401F-83E4-15E2EC315835}">
  <ds:schemaRefs>
    <ds:schemaRef ds:uri="http://purl.org/dc/dcmitype/"/>
    <ds:schemaRef ds:uri="http://purl.org/dc/terms/"/>
    <ds:schemaRef ds:uri="48075332-7121-4586-9b37-001832929c65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7f4c7624-56f4-4a21-b954-4b513324e890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36</TotalTime>
  <Words>1353</Words>
  <Application>Microsoft Macintosh PowerPoint</Application>
  <PresentationFormat>Widescreen</PresentationFormat>
  <Paragraphs>153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Arial</vt:lpstr>
      <vt:lpstr>Canva Sans Bold</vt:lpstr>
      <vt:lpstr>Corbel</vt:lpstr>
      <vt:lpstr>Wingdings</vt:lpstr>
      <vt:lpstr>Banded</vt:lpstr>
      <vt:lpstr>PowerPoint Presentation</vt:lpstr>
      <vt:lpstr>SCIF2001 – Workshop 1</vt:lpstr>
      <vt:lpstr>Today's Plan</vt:lpstr>
      <vt:lpstr>Course Introduction</vt:lpstr>
      <vt:lpstr>Course Intention</vt:lpstr>
      <vt:lpstr>Projects at the Centre </vt:lpstr>
      <vt:lpstr>Projects – an Overview</vt:lpstr>
      <vt:lpstr>Projects are all different</vt:lpstr>
      <vt:lpstr>Projects - Assessments</vt:lpstr>
      <vt:lpstr>Laboratory Session</vt:lpstr>
      <vt:lpstr>Activity! – Go Find your group</vt:lpstr>
      <vt:lpstr>Workshops – an Overview</vt:lpstr>
      <vt:lpstr>Workshops – Your choices</vt:lpstr>
      <vt:lpstr>Activity!</vt:lpstr>
      <vt:lpstr>Questions?</vt:lpstr>
      <vt:lpstr>Course ASSESSMENT</vt:lpstr>
      <vt:lpstr>It’s Competency-based!</vt:lpstr>
      <vt:lpstr>Project Learning Outcomes / RESEARCH Techniques</vt:lpstr>
      <vt:lpstr>Lit Review / Proposal / ResearCh Roadmap</vt:lpstr>
      <vt:lpstr>Individual Video / Research Spotlight</vt:lpstr>
      <vt:lpstr>Weekly Quizzes / Research Toolkit</vt:lpstr>
      <vt:lpstr>Your Project Teams</vt:lpstr>
      <vt:lpstr>The Course Contacts</vt:lpstr>
      <vt:lpstr>Microsoft Teams</vt:lpstr>
      <vt:lpstr>Moodle Forums</vt:lpstr>
      <vt:lpstr>Questions?</vt:lpstr>
      <vt:lpstr>Activity Two: Plan Ahead!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Dixon</dc:creator>
  <cp:lastModifiedBy>Ben Montet</cp:lastModifiedBy>
  <cp:revision>34</cp:revision>
  <dcterms:created xsi:type="dcterms:W3CDTF">2025-09-10T00:46:01Z</dcterms:created>
  <dcterms:modified xsi:type="dcterms:W3CDTF">2026-09-09T06:14:51Z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0x010100AA6DA40B4B132B458830ECC69B134F0C</vt:lpwstr>
  </property>
  <property fmtid="{D5CDD505-2E9C-101B-9397-08002B2CF9AE}" pid="3" name="MediaServiceImageTags">
    <vt:lpwstr/>
  </property>
</Properties>
</file>